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Kanit"/>
      <p:regular r:id="rId17"/>
    </p:embeddedFont>
    <p:embeddedFont>
      <p:font typeface="Kanit"/>
      <p:regular r:id="rId18"/>
    </p:embeddedFont>
    <p:embeddedFont>
      <p:font typeface="Kanit"/>
      <p:regular r:id="rId19"/>
    </p:embeddedFont>
    <p:embeddedFont>
      <p:font typeface="Kanit"/>
      <p:regular r:id="rId20"/>
    </p:embeddedFont>
    <p:embeddedFont>
      <p:font typeface="Martel Sans Light"/>
      <p:regular r:id="rId21"/>
    </p:embeddedFont>
    <p:embeddedFont>
      <p:font typeface="Martel Sans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8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slideLayout" Target="../slideLayouts/slideLayout9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71367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Smart Energy-Saving Room System Using PIR Sensor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80679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Team Members: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Pranesh Y, Monish S, Mayakannan 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13290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Guided By: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Prof. Dr. G. Jagajothi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876895"/>
            <a:ext cx="7468553" cy="119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Introduction: Problem Identification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837724" y="2333030"/>
            <a:ext cx="7468553" cy="1457563"/>
          </a:xfrm>
          <a:prstGeom prst="roundRect">
            <a:avLst>
              <a:gd name="adj" fmla="val 7528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64" y="2333030"/>
            <a:ext cx="91440" cy="14575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2523" y="2559248"/>
            <a:ext cx="3246834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Energy Waste in Empty Rooms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132523" y="2962156"/>
            <a:ext cx="6947535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Electricity is continuously wasted when lights and fans remain ON in unoccupied rooms, leading to significant power loss.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37724" y="3963472"/>
            <a:ext cx="7468553" cy="1457563"/>
          </a:xfrm>
          <a:prstGeom prst="roundRect">
            <a:avLst>
              <a:gd name="adj" fmla="val 7528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64" y="3963472"/>
            <a:ext cx="91440" cy="14575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32523" y="4189690"/>
            <a:ext cx="2920841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Manual Control Inefficiency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132523" y="4592598"/>
            <a:ext cx="6947535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Traditional manual switching relies on human memory and attention, often resulting in unnecessary power consumption throughout the day.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37724" y="5593913"/>
            <a:ext cx="7468553" cy="1758672"/>
          </a:xfrm>
          <a:prstGeom prst="roundRect">
            <a:avLst>
              <a:gd name="adj" fmla="val 6239"/>
            </a:avLst>
          </a:prstGeom>
          <a:solidFill>
            <a:srgbClr val="100C35"/>
          </a:solidFill>
          <a:ln w="22860">
            <a:solidFill>
              <a:srgbClr val="48446D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64" y="5593913"/>
            <a:ext cx="91440" cy="17586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32523" y="5820132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Need for Automation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132523" y="6223040"/>
            <a:ext cx="6947535" cy="903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There is a critical need for an intelligent, automatic system that can detect room occupancy and control appliances without human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2713"/>
            <a:ext cx="5350788" cy="66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Project Objective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37724" y="1853565"/>
            <a:ext cx="6369487" cy="2526268"/>
          </a:xfrm>
          <a:prstGeom prst="roundRect">
            <a:avLst>
              <a:gd name="adj" fmla="val 1350"/>
            </a:avLst>
          </a:prstGeom>
          <a:solidFill>
            <a:srgbClr val="2F2B54"/>
          </a:solidFill>
          <a:ln/>
        </p:spPr>
      </p:sp>
      <p:sp>
        <p:nvSpPr>
          <p:cNvPr id="4" name="Shape 2"/>
          <p:cNvSpPr/>
          <p:nvPr/>
        </p:nvSpPr>
        <p:spPr>
          <a:xfrm>
            <a:off x="1065133" y="2080974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FD505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52776" y="2268498"/>
            <a:ext cx="306943" cy="306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5133" y="2979182"/>
            <a:ext cx="3221950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Human Presence Detection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65133" y="3443049"/>
            <a:ext cx="5914668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Accurately detect human presence using PIR sensor technology with reliable motion sensing capabilities.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3190" y="1853565"/>
            <a:ext cx="6369487" cy="2526268"/>
          </a:xfrm>
          <a:prstGeom prst="roundRect">
            <a:avLst>
              <a:gd name="adj" fmla="val 1350"/>
            </a:avLst>
          </a:prstGeom>
          <a:solidFill>
            <a:srgbClr val="2F2B54"/>
          </a:solidFill>
          <a:ln/>
        </p:spPr>
      </p:sp>
      <p:sp>
        <p:nvSpPr>
          <p:cNvPr id="9" name="Shape 6"/>
          <p:cNvSpPr/>
          <p:nvPr/>
        </p:nvSpPr>
        <p:spPr>
          <a:xfrm>
            <a:off x="7650599" y="2080974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FD505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8242" y="2268498"/>
            <a:ext cx="306943" cy="3069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0599" y="2979182"/>
            <a:ext cx="34729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Automatic Appliance Control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50599" y="3443049"/>
            <a:ext cx="5914668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Automatically control lights and fans based on occupancy detection without manual intervention.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837724" y="4595813"/>
            <a:ext cx="6369487" cy="2880955"/>
          </a:xfrm>
          <a:prstGeom prst="roundRect">
            <a:avLst>
              <a:gd name="adj" fmla="val 1184"/>
            </a:avLst>
          </a:prstGeom>
          <a:solidFill>
            <a:srgbClr val="2F2B54"/>
          </a:solidFill>
          <a:ln/>
        </p:spPr>
      </p:sp>
      <p:sp>
        <p:nvSpPr>
          <p:cNvPr id="14" name="Shape 10"/>
          <p:cNvSpPr/>
          <p:nvPr/>
        </p:nvSpPr>
        <p:spPr>
          <a:xfrm>
            <a:off x="1065133" y="4823222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FD505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2776" y="5010745"/>
            <a:ext cx="306943" cy="3069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5133" y="5721429"/>
            <a:ext cx="3350062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Reduce Power Consumption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065133" y="6185297"/>
            <a:ext cx="5914668" cy="1064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Significantly reduce electricity consumption by eliminating unnecessary appliance operation in empty rooms.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3190" y="4595813"/>
            <a:ext cx="6369487" cy="2880955"/>
          </a:xfrm>
          <a:prstGeom prst="roundRect">
            <a:avLst>
              <a:gd name="adj" fmla="val 1184"/>
            </a:avLst>
          </a:prstGeom>
          <a:solidFill>
            <a:srgbClr val="2F2B54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0599" y="4823222"/>
            <a:ext cx="682228" cy="682228"/>
          </a:xfrm>
          <a:prstGeom prst="roundRect">
            <a:avLst>
              <a:gd name="adj" fmla="val 13401804"/>
            </a:avLst>
          </a:prstGeom>
          <a:solidFill>
            <a:srgbClr val="FD505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8242" y="5010745"/>
            <a:ext cx="306943" cy="3069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0599" y="5721429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Low-Cost Solution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50599" y="6185297"/>
            <a:ext cx="5914668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Develop an affordable automation system that can be easily implemented in various settings.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4474" y="435650"/>
            <a:ext cx="4080034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Existing Model: Manual Switch System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164" y="854631"/>
            <a:ext cx="5655588" cy="75407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14284" y="4173855"/>
            <a:ext cx="1211580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Current Approach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9514284" y="4369594"/>
            <a:ext cx="4569143" cy="23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traditional manual switch system requires users to physically turn ON and OFF appliances each time they enter or leave a room.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514284" y="4649391"/>
            <a:ext cx="1211580" cy="15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9514284" y="4845129"/>
            <a:ext cx="4569143" cy="23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Users must remember to operate switches manually, with no automated mechanism to prevent energy waste when rooms are unoccupied.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219557"/>
            <a:ext cx="76163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Limitations of Existing System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402324"/>
            <a:ext cx="6357818" cy="2184202"/>
          </a:xfrm>
          <a:prstGeom prst="roundRect">
            <a:avLst>
              <a:gd name="adj" fmla="val 1644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7519" y="267212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Human Negligence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7519" y="3167658"/>
            <a:ext cx="58182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People often forget to turn off appliances when leaving rooms, resulting in prolonged unnecessary operation and wasted energy.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2402324"/>
            <a:ext cx="6357818" cy="2184202"/>
          </a:xfrm>
          <a:prstGeom prst="roundRect">
            <a:avLst>
              <a:gd name="adj" fmla="val 1644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4653" y="2672120"/>
            <a:ext cx="328898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Increased Electricity Costs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04653" y="3167658"/>
            <a:ext cx="58182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Continuous operation of lights and fans in empty rooms leads to significantly higher electricity bills for households and institutions.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825841"/>
            <a:ext cx="6357818" cy="2184202"/>
          </a:xfrm>
          <a:prstGeom prst="roundRect">
            <a:avLst>
              <a:gd name="adj" fmla="val 1644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7519" y="50956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Energy Wastage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07519" y="5591175"/>
            <a:ext cx="58182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Manual systems contribute to substantial energy wastage, which has environmental and economic consequences over time.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34858" y="4825841"/>
            <a:ext cx="6357818" cy="2184202"/>
          </a:xfrm>
          <a:prstGeom prst="roundRect">
            <a:avLst>
              <a:gd name="adj" fmla="val 1644"/>
            </a:avLst>
          </a:prstGeom>
          <a:solidFill>
            <a:srgbClr val="100C35"/>
          </a:solidFill>
          <a:ln w="30480">
            <a:solidFill>
              <a:srgbClr val="4844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4653" y="5095637"/>
            <a:ext cx="36771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Not Environmentally Friendly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04653" y="5591175"/>
            <a:ext cx="58182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Excessive power consumption increases carbon footprint and contradicts sustainability goals and eco-friendly practices.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683895"/>
            <a:ext cx="7468553" cy="1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Proposed System: Automated Energy Saving</a:t>
            </a:r>
            <a:endParaRPr lang="en-US" sz="3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2241947"/>
            <a:ext cx="1077158" cy="15185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08716" y="2457331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PIR Sensor Detection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2108716" y="2890480"/>
            <a:ext cx="6197560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Motion sensor continuously monitors room for human presence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760470"/>
            <a:ext cx="1077158" cy="129254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08716" y="3975854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Intelligent Processing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2108716" y="4409003"/>
            <a:ext cx="6197560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System processes sensor data and makes control decisions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5053013"/>
            <a:ext cx="1077158" cy="129254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08716" y="5268397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Relay Control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2108716" y="5701546"/>
            <a:ext cx="6197560" cy="32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Relay module switches appliances ON or OFF automatically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837724" y="6563678"/>
            <a:ext cx="7468553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system operates exclusively based on detected human presence, ensuring appliances function only when needed and conserving energy during empty periods.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4142"/>
            <a:ext cx="422433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Methodology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1017270" y="1820585"/>
            <a:ext cx="179427" cy="807839"/>
          </a:xfrm>
          <a:prstGeom prst="roundRect">
            <a:avLst>
              <a:gd name="adj" fmla="val 15009"/>
            </a:avLst>
          </a:prstGeom>
          <a:solidFill>
            <a:srgbClr val="2F2B54"/>
          </a:solidFill>
          <a:ln/>
        </p:spPr>
      </p:sp>
      <p:sp>
        <p:nvSpPr>
          <p:cNvPr id="4" name="Shape 2"/>
          <p:cNvSpPr/>
          <p:nvPr/>
        </p:nvSpPr>
        <p:spPr>
          <a:xfrm>
            <a:off x="837724" y="1702832"/>
            <a:ext cx="538520" cy="538520"/>
          </a:xfrm>
          <a:prstGeom prst="roundRect">
            <a:avLst>
              <a:gd name="adj" fmla="val 84899"/>
            </a:avLst>
          </a:prstGeom>
          <a:solidFill>
            <a:srgbClr val="2F2B5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2383" y="1837492"/>
            <a:ext cx="269200" cy="26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10784" y="1730812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Power Supply Setup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10784" y="2075498"/>
            <a:ext cx="1228189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Connect 5V power supply to both PIR sensor and relay module for proper operation.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6470" y="3032284"/>
            <a:ext cx="179427" cy="807839"/>
          </a:xfrm>
          <a:prstGeom prst="roundRect">
            <a:avLst>
              <a:gd name="adj" fmla="val 15009"/>
            </a:avLst>
          </a:prstGeom>
          <a:solidFill>
            <a:srgbClr val="2F2B54"/>
          </a:solidFill>
          <a:ln/>
        </p:spPr>
      </p:sp>
      <p:sp>
        <p:nvSpPr>
          <p:cNvPr id="9" name="Shape 6"/>
          <p:cNvSpPr/>
          <p:nvPr/>
        </p:nvSpPr>
        <p:spPr>
          <a:xfrm>
            <a:off x="1106924" y="2914531"/>
            <a:ext cx="538520" cy="538520"/>
          </a:xfrm>
          <a:prstGeom prst="roundRect">
            <a:avLst>
              <a:gd name="adj" fmla="val 84899"/>
            </a:avLst>
          </a:prstGeom>
          <a:solidFill>
            <a:srgbClr val="2F2B5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1584" y="3049191"/>
            <a:ext cx="269200" cy="26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79984" y="2942511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PIR Motion Detection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779984" y="3287197"/>
            <a:ext cx="12012692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PIR sensor continuously monitors the room, detecting infrared radiation emitted by human bodies.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555790" y="4243983"/>
            <a:ext cx="179427" cy="807839"/>
          </a:xfrm>
          <a:prstGeom prst="roundRect">
            <a:avLst>
              <a:gd name="adj" fmla="val 15009"/>
            </a:avLst>
          </a:prstGeom>
          <a:solidFill>
            <a:srgbClr val="2F2B54"/>
          </a:solidFill>
          <a:ln/>
        </p:spPr>
      </p:sp>
      <p:sp>
        <p:nvSpPr>
          <p:cNvPr id="14" name="Shape 10"/>
          <p:cNvSpPr/>
          <p:nvPr/>
        </p:nvSpPr>
        <p:spPr>
          <a:xfrm>
            <a:off x="1376243" y="4126230"/>
            <a:ext cx="538520" cy="538520"/>
          </a:xfrm>
          <a:prstGeom prst="roundRect">
            <a:avLst>
              <a:gd name="adj" fmla="val 84899"/>
            </a:avLst>
          </a:prstGeom>
          <a:solidFill>
            <a:srgbClr val="2F2B5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10903" y="4260890"/>
            <a:ext cx="269200" cy="269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49304" y="4154210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Signal Transmission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2049304" y="4498896"/>
            <a:ext cx="11743373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When motion is detected, PIR sensor sends electrical signal to relay module indicating presence.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1825109" y="5455682"/>
            <a:ext cx="179427" cy="807839"/>
          </a:xfrm>
          <a:prstGeom prst="roundRect">
            <a:avLst>
              <a:gd name="adj" fmla="val 15009"/>
            </a:avLst>
          </a:prstGeom>
          <a:solidFill>
            <a:srgbClr val="2F2B54"/>
          </a:solidFill>
          <a:ln/>
        </p:spPr>
      </p:sp>
      <p:sp>
        <p:nvSpPr>
          <p:cNvPr id="19" name="Shape 14"/>
          <p:cNvSpPr/>
          <p:nvPr/>
        </p:nvSpPr>
        <p:spPr>
          <a:xfrm>
            <a:off x="1645563" y="5337929"/>
            <a:ext cx="538520" cy="538520"/>
          </a:xfrm>
          <a:prstGeom prst="roundRect">
            <a:avLst>
              <a:gd name="adj" fmla="val 84899"/>
            </a:avLst>
          </a:prstGeom>
          <a:solidFill>
            <a:srgbClr val="2F2B5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80223" y="5472589"/>
            <a:ext cx="269200" cy="269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318623" y="5365909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Appliance Switching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2318623" y="5710595"/>
            <a:ext cx="11474053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Relay module receives signal and switches connected appliances ON or OFF accordingly.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555790" y="6667381"/>
            <a:ext cx="179427" cy="807839"/>
          </a:xfrm>
          <a:prstGeom prst="roundRect">
            <a:avLst>
              <a:gd name="adj" fmla="val 15009"/>
            </a:avLst>
          </a:prstGeom>
          <a:solidFill>
            <a:srgbClr val="2F2B54"/>
          </a:solidFill>
          <a:ln/>
        </p:spPr>
      </p:sp>
      <p:sp>
        <p:nvSpPr>
          <p:cNvPr id="24" name="Shape 18"/>
          <p:cNvSpPr/>
          <p:nvPr/>
        </p:nvSpPr>
        <p:spPr>
          <a:xfrm>
            <a:off x="1376243" y="6549628"/>
            <a:ext cx="538520" cy="538520"/>
          </a:xfrm>
          <a:prstGeom prst="roundRect">
            <a:avLst>
              <a:gd name="adj" fmla="val 84899"/>
            </a:avLst>
          </a:prstGeom>
          <a:solidFill>
            <a:srgbClr val="2F2B5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10903" y="6684288"/>
            <a:ext cx="269200" cy="269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049304" y="6577608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Automatic Shutdown</a:t>
            </a:r>
            <a:endParaRPr lang="en-US" sz="1650" dirty="0"/>
          </a:p>
        </p:txBody>
      </p:sp>
      <p:sp>
        <p:nvSpPr>
          <p:cNvPr id="27" name="Text 20"/>
          <p:cNvSpPr/>
          <p:nvPr/>
        </p:nvSpPr>
        <p:spPr>
          <a:xfrm>
            <a:off x="2049304" y="6922294"/>
            <a:ext cx="11743373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If no motion is detected for preset delay period, relay automatically turns appliance OFF to save energy.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4631"/>
            <a:ext cx="4787503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Components Required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724" y="1798915"/>
            <a:ext cx="406837" cy="4068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2421850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PIR Motion Sensor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2824758"/>
            <a:ext cx="4174212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Passive infrared sensor for detecting human body heat and movement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8034" y="1798915"/>
            <a:ext cx="406837" cy="4068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28034" y="2421850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Relay Module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228034" y="2824758"/>
            <a:ext cx="4174212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Switching device that controls high-power appliances using low-power signals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18345" y="1798915"/>
            <a:ext cx="406837" cy="4068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18345" y="2421850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5V Power Supply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618345" y="2824758"/>
            <a:ext cx="4174212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Adapter providing stable power for sensor and relay operation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724" y="3772852"/>
            <a:ext cx="406837" cy="4068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7724" y="4395788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LED/Bulb or Fan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37724" y="4798695"/>
            <a:ext cx="4174212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Appliance to be controlled automatically based on occupancy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8034" y="3772852"/>
            <a:ext cx="406837" cy="40683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28034" y="4395788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Breadboard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228034" y="4798695"/>
            <a:ext cx="4174212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Prototyping board for connecting components without soldering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18345" y="3772852"/>
            <a:ext cx="406837" cy="40683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18345" y="4395788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Connecting Wires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9618345" y="4798695"/>
            <a:ext cx="4174212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Jumper wires for establishing electrical connections between components</a:t>
            </a:r>
            <a:endParaRPr lang="en-US" sz="16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7724" y="5746790"/>
            <a:ext cx="406837" cy="406837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37724" y="6369725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Switch (Optional)</a:t>
            </a:r>
            <a:endParaRPr lang="en-US" sz="1850" dirty="0"/>
          </a:p>
        </p:txBody>
      </p:sp>
      <p:sp>
        <p:nvSpPr>
          <p:cNvPr id="23" name="Text 14"/>
          <p:cNvSpPr/>
          <p:nvPr/>
        </p:nvSpPr>
        <p:spPr>
          <a:xfrm>
            <a:off x="837724" y="6772632"/>
            <a:ext cx="4174212" cy="60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Manual override switch for emergency control or testing purposes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47130"/>
            <a:ext cx="50692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Result and Discussion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837724" y="1965365"/>
            <a:ext cx="3208734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Successful Motion Detection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837724" y="2476024"/>
            <a:ext cx="8236744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PIR sensor reliably detected human presence with high accuracy, responding quickly to movement within its detection range.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37724" y="3324463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Automatic Operation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37724" y="3835122"/>
            <a:ext cx="8236744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Light or fan automatically turned ON immediately when person entered the room, providing instant response to occupancy.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37724" y="4683562"/>
            <a:ext cx="3037642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Energy-Efficient Shutdown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37724" y="5194221"/>
            <a:ext cx="8236744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Appliance turned OFF automatically after preset delay when room became empty, eliminating unnecessary power consumption.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7724" y="6042660"/>
            <a:ext cx="329862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Effective Power Conservation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37724" y="6553319"/>
            <a:ext cx="8236744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System successfully reduced power wastage by ensuring appliances operated only during actual occupancy periods.</a:t>
            </a:r>
            <a:endParaRPr lang="en-US" sz="16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7298" y="3338274"/>
            <a:ext cx="3773210" cy="24772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946190"/>
            <a:ext cx="5069205" cy="633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Conclusion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837724" y="1870591"/>
            <a:ext cx="3637359" cy="2500432"/>
          </a:xfrm>
          <a:prstGeom prst="roundRect">
            <a:avLst>
              <a:gd name="adj" fmla="val 1292"/>
            </a:avLst>
          </a:prstGeom>
          <a:solidFill>
            <a:srgbClr val="1B1744"/>
          </a:solidFill>
          <a:ln/>
        </p:spPr>
      </p:sp>
      <p:sp>
        <p:nvSpPr>
          <p:cNvPr id="5" name="Text 2"/>
          <p:cNvSpPr/>
          <p:nvPr/>
        </p:nvSpPr>
        <p:spPr>
          <a:xfrm>
            <a:off x="1053108" y="2085975"/>
            <a:ext cx="2708791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Electricity Conservation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53108" y="2519124"/>
            <a:ext cx="3206591" cy="163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Smart Energy-Saving Room System effectively conserves electricity by eliminating unnecessary appliance operation in empty rooms.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68917" y="1870591"/>
            <a:ext cx="3637359" cy="2500432"/>
          </a:xfrm>
          <a:prstGeom prst="roundRect">
            <a:avLst>
              <a:gd name="adj" fmla="val 1292"/>
            </a:avLst>
          </a:prstGeom>
          <a:solidFill>
            <a:srgbClr val="1B1744"/>
          </a:solidFill>
          <a:ln/>
        </p:spPr>
      </p:sp>
      <p:sp>
        <p:nvSpPr>
          <p:cNvPr id="8" name="Text 5"/>
          <p:cNvSpPr/>
          <p:nvPr/>
        </p:nvSpPr>
        <p:spPr>
          <a:xfrm>
            <a:off x="4884301" y="2085975"/>
            <a:ext cx="2619375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Cost-Effective Solution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84301" y="2519124"/>
            <a:ext cx="3206591" cy="1309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System is low-cost, simple to implement, and provides quick return on investment through reduced electricity bills.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37724" y="4564856"/>
            <a:ext cx="7468553" cy="1518523"/>
          </a:xfrm>
          <a:prstGeom prst="roundRect">
            <a:avLst>
              <a:gd name="adj" fmla="val 2128"/>
            </a:avLst>
          </a:prstGeom>
          <a:solidFill>
            <a:srgbClr val="1B1744"/>
          </a:solidFill>
          <a:ln/>
        </p:spPr>
      </p:sp>
      <p:sp>
        <p:nvSpPr>
          <p:cNvPr id="11" name="Text 8"/>
          <p:cNvSpPr/>
          <p:nvPr/>
        </p:nvSpPr>
        <p:spPr>
          <a:xfrm>
            <a:off x="1053108" y="4780240"/>
            <a:ext cx="2534603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Versatile Application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53108" y="5213390"/>
            <a:ext cx="7037784" cy="654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Suitable for classrooms, homes, offices, restrooms, and other spaces where occupancy varies throughout the day.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37724" y="6301502"/>
            <a:ext cx="7468553" cy="981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Future Enhancements:</a:t>
            </a:r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Integration with IoT for remote monitoring, smartphone app control, and data analytics for energy consumption patterns.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2026-03-04T15:40:35Z</dcterms:created>
  <dcterms:modified xsi:type="dcterms:W3CDTF">2026-03-04T15:40:35Z</dcterms:modified>
</cp:coreProperties>
</file>